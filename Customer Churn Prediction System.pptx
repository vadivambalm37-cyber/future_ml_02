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D33BF-822B-4557-A165-122623432AD6}" type="datetimeFigureOut">
              <a:rPr lang="en-IN" smtClean="0"/>
              <a:t>06-01-2026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2E883E-82EC-4FCA-8CCC-3A705EF0B43B}" type="slidenum">
              <a:rPr lang="en-IN" smtClean="0"/>
              <a:t>‹#›</a:t>
            </a:fld>
            <a:endParaRPr lang="en-IN"/>
          </a:p>
        </p:txBody>
      </p:sp>
    </p:spTree>
    <p:extLst>
      <p:ext uri="{BB962C8B-B14F-4D97-AF65-F5344CB8AC3E}">
        <p14:creationId xmlns:p14="http://schemas.microsoft.com/office/powerpoint/2010/main" val="1091405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2E883E-82EC-4FCA-8CCC-3A705EF0B43B}" type="slidenum">
              <a:rPr lang="en-IN" smtClean="0"/>
              <a:t>11</a:t>
            </a:fld>
            <a:endParaRPr lang="en-IN"/>
          </a:p>
        </p:txBody>
      </p:sp>
    </p:spTree>
    <p:extLst>
      <p:ext uri="{BB962C8B-B14F-4D97-AF65-F5344CB8AC3E}">
        <p14:creationId xmlns:p14="http://schemas.microsoft.com/office/powerpoint/2010/main" val="176840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1F005-60F3-FEF1-E01A-A963B90C37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2BD5AD-9CD7-75D8-1E8C-9B9D0E9D22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955560-C76F-F17D-1C4D-0077066D28A7}"/>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5" name="Footer Placeholder 4">
            <a:extLst>
              <a:ext uri="{FF2B5EF4-FFF2-40B4-BE49-F238E27FC236}">
                <a16:creationId xmlns:a16="http://schemas.microsoft.com/office/drawing/2014/main" id="{D4C2BA97-F5C4-C6DA-D3E1-60A2387D91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6C0CD-CA79-9C41-8FEC-372993FD07B6}"/>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2520287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216FD-2045-2A3E-FB2D-410965F2C7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6DA62A-7E81-F818-3434-231F8411EC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1EE0E9-4757-ECAA-04AC-68B6F027E236}"/>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5" name="Footer Placeholder 4">
            <a:extLst>
              <a:ext uri="{FF2B5EF4-FFF2-40B4-BE49-F238E27FC236}">
                <a16:creationId xmlns:a16="http://schemas.microsoft.com/office/drawing/2014/main" id="{10B64E86-FF7B-8C06-DB09-DA161C8685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261D7B-0996-5808-6A5A-73C4ACA60243}"/>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3722243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7421-5462-F7EE-A076-D97A1A3F2C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A67BCE-0055-6D36-20E5-A09BF35153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468B74-05ED-7BEF-B278-1B04435BFA2C}"/>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5" name="Footer Placeholder 4">
            <a:extLst>
              <a:ext uri="{FF2B5EF4-FFF2-40B4-BE49-F238E27FC236}">
                <a16:creationId xmlns:a16="http://schemas.microsoft.com/office/drawing/2014/main" id="{EADF2E3C-DF99-66DA-70B9-3D999A64F0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DC1FE7-3D14-D37E-7B72-A31C6C631D86}"/>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1244900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7C6F-1DA6-2CB0-9AB0-E5AAC0AAFF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5379C1-FE03-5B95-D409-63CA75B1B6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997F6F-8DF4-D044-F12A-D13BF0ACD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10AF46-F51B-7AB8-2A4F-4FE02B301C66}"/>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6" name="Footer Placeholder 5">
            <a:extLst>
              <a:ext uri="{FF2B5EF4-FFF2-40B4-BE49-F238E27FC236}">
                <a16:creationId xmlns:a16="http://schemas.microsoft.com/office/drawing/2014/main" id="{650DE7D3-DB26-6DD1-74D1-B722D46C63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79AF21-25E9-2488-B933-ED1F9C78B2C7}"/>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2435687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ABC97-5894-5CA0-9746-E91CA11857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5BDC29-795C-2681-323B-81ED875D6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8B5C77-D5D9-FEEC-6C07-90BD79C9DC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C52108-D46B-84A8-9597-5C9BEE85B4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6E9D1C-2DC6-F674-79B2-F4A13B49E8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D1FDF9-957B-5C90-0712-6B9616E0954A}"/>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8" name="Footer Placeholder 7">
            <a:extLst>
              <a:ext uri="{FF2B5EF4-FFF2-40B4-BE49-F238E27FC236}">
                <a16:creationId xmlns:a16="http://schemas.microsoft.com/office/drawing/2014/main" id="{20CA9107-F71E-5A84-C44C-9751C85467D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3E2A90-82DF-EA51-E79F-C236640A9A8A}"/>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1086489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26C08-17E9-B342-2A02-7E8DF4AEAE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516730-A7BC-E3B8-62F9-266F9D7100A8}"/>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4" name="Footer Placeholder 3">
            <a:extLst>
              <a:ext uri="{FF2B5EF4-FFF2-40B4-BE49-F238E27FC236}">
                <a16:creationId xmlns:a16="http://schemas.microsoft.com/office/drawing/2014/main" id="{72C98020-2C4C-AC92-5D5D-C2F7F4E565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27229C1-D38A-2C7F-ABCE-42ADCFE85464}"/>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4268519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F8FE1E-A741-48CA-405E-81132CFA8206}"/>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3" name="Footer Placeholder 2">
            <a:extLst>
              <a:ext uri="{FF2B5EF4-FFF2-40B4-BE49-F238E27FC236}">
                <a16:creationId xmlns:a16="http://schemas.microsoft.com/office/drawing/2014/main" id="{38E72E40-4298-7E36-7E1D-46B5950AE31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400559-4B87-687F-0DC3-949C029FF2D2}"/>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2361852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291BA-FD1F-4871-D330-1BD9C0AEA5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A4EC31-72FA-93EC-29CB-92C04BBC9A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E63E42-145C-CDC4-84AA-454D674E36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069A-3F4F-E35F-DE04-332C015EAEDE}"/>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6" name="Footer Placeholder 5">
            <a:extLst>
              <a:ext uri="{FF2B5EF4-FFF2-40B4-BE49-F238E27FC236}">
                <a16:creationId xmlns:a16="http://schemas.microsoft.com/office/drawing/2014/main" id="{FE3AC11D-A916-7784-D89E-699859F8E7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F2F69A-C7EA-04E3-0B9F-3498CE18FE7C}"/>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2317000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99173-30E7-71C3-7827-84B1017638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0EE794-6D0B-9D7D-27EB-C210A5749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85E2B0-18C0-7B25-3B0B-8B22A3B21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A91F0-FF13-F9C6-9152-B0E7EE049A52}"/>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6" name="Footer Placeholder 5">
            <a:extLst>
              <a:ext uri="{FF2B5EF4-FFF2-40B4-BE49-F238E27FC236}">
                <a16:creationId xmlns:a16="http://schemas.microsoft.com/office/drawing/2014/main" id="{CF6742B1-3C1B-1E52-8580-EDCDA8BDCC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2395FD-18AF-8218-71F8-E626136E7C3C}"/>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340391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0F6AD-B38B-4994-A03B-0820A6D911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3CA7A6-EE12-2DDA-3873-FEE8D238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740706-E08A-BD78-C053-3018275C67E7}"/>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5" name="Footer Placeholder 4">
            <a:extLst>
              <a:ext uri="{FF2B5EF4-FFF2-40B4-BE49-F238E27FC236}">
                <a16:creationId xmlns:a16="http://schemas.microsoft.com/office/drawing/2014/main" id="{DF28213F-DDB2-77F8-F597-F7AA32D750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F50B0C-534A-B102-F8B9-323254E691C1}"/>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170898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19398B-DFE4-D1E7-7661-405C24A1CC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5ED40A-3F2D-D5AB-B8E2-4AD1484007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28EEF-FA43-04FD-065A-BCE84680522F}"/>
              </a:ext>
            </a:extLst>
          </p:cNvPr>
          <p:cNvSpPr>
            <a:spLocks noGrp="1"/>
          </p:cNvSpPr>
          <p:nvPr>
            <p:ph type="dt" sz="half" idx="10"/>
          </p:nvPr>
        </p:nvSpPr>
        <p:spPr/>
        <p:txBody>
          <a:bodyPr/>
          <a:lstStyle/>
          <a:p>
            <a:fld id="{38B08503-93B0-4AC2-BFD1-9EC38EAC32D2}" type="datetimeFigureOut">
              <a:rPr lang="en-IN" smtClean="0"/>
              <a:t>06-01-2026</a:t>
            </a:fld>
            <a:endParaRPr lang="en-IN"/>
          </a:p>
        </p:txBody>
      </p:sp>
      <p:sp>
        <p:nvSpPr>
          <p:cNvPr id="5" name="Footer Placeholder 4">
            <a:extLst>
              <a:ext uri="{FF2B5EF4-FFF2-40B4-BE49-F238E27FC236}">
                <a16:creationId xmlns:a16="http://schemas.microsoft.com/office/drawing/2014/main" id="{FEC7EBD7-68BA-37B7-3F0C-98EBE80D27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7F16DB-A708-9A0A-01FB-C9643D9DEA14}"/>
              </a:ext>
            </a:extLst>
          </p:cNvPr>
          <p:cNvSpPr>
            <a:spLocks noGrp="1"/>
          </p:cNvSpPr>
          <p:nvPr>
            <p:ph type="sldNum" sz="quarter" idx="12"/>
          </p:nvPr>
        </p:nvSpPr>
        <p:spPr/>
        <p:txBody>
          <a:bodyPr/>
          <a:lstStyle/>
          <a:p>
            <a:fld id="{308B0F01-2674-4136-85B8-A980CF34BC75}" type="slidenum">
              <a:rPr lang="en-IN" smtClean="0"/>
              <a:t>‹#›</a:t>
            </a:fld>
            <a:endParaRPr lang="en-IN"/>
          </a:p>
        </p:txBody>
      </p:sp>
    </p:spTree>
    <p:extLst>
      <p:ext uri="{BB962C8B-B14F-4D97-AF65-F5344CB8AC3E}">
        <p14:creationId xmlns:p14="http://schemas.microsoft.com/office/powerpoint/2010/main" val="1272781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78ECE6-69C5-0A9B-7DCA-E61ED3F8A1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659328-048D-7970-EE7C-CD871B34EA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543BA7-F3C7-8ED3-C494-45B3ABA9F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B08503-93B0-4AC2-BFD1-9EC38EAC32D2}" type="datetimeFigureOut">
              <a:rPr lang="en-IN" smtClean="0"/>
              <a:t>06-01-2026</a:t>
            </a:fld>
            <a:endParaRPr lang="en-IN"/>
          </a:p>
        </p:txBody>
      </p:sp>
      <p:sp>
        <p:nvSpPr>
          <p:cNvPr id="5" name="Footer Placeholder 4">
            <a:extLst>
              <a:ext uri="{FF2B5EF4-FFF2-40B4-BE49-F238E27FC236}">
                <a16:creationId xmlns:a16="http://schemas.microsoft.com/office/drawing/2014/main" id="{FE7FAB73-BE0A-6686-20A3-1F92588561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87B40E-4A46-341A-B79D-3A1FD942BB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8B0F01-2674-4136-85B8-A980CF34BC75}" type="slidenum">
              <a:rPr lang="en-IN" smtClean="0"/>
              <a:t>‹#›</a:t>
            </a:fld>
            <a:endParaRPr lang="en-IN"/>
          </a:p>
        </p:txBody>
      </p:sp>
    </p:spTree>
    <p:extLst>
      <p:ext uri="{BB962C8B-B14F-4D97-AF65-F5344CB8AC3E}">
        <p14:creationId xmlns:p14="http://schemas.microsoft.com/office/powerpoint/2010/main" val="3418347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711B6-F5C6-5FA8-B1CB-4EF3A3E73823}"/>
              </a:ext>
            </a:extLst>
          </p:cNvPr>
          <p:cNvSpPr>
            <a:spLocks noGrp="1"/>
          </p:cNvSpPr>
          <p:nvPr>
            <p:ph type="ctrTitle"/>
          </p:nvPr>
        </p:nvSpPr>
        <p:spPr>
          <a:xfrm>
            <a:off x="7079225" y="1000771"/>
            <a:ext cx="4640826" cy="785096"/>
          </a:xfrm>
        </p:spPr>
        <p:txBody>
          <a:bodyPr>
            <a:noAutofit/>
          </a:bodyPr>
          <a:lstStyle/>
          <a:p>
            <a:r>
              <a:rPr lang="en-IN" sz="4400" b="1" dirty="0">
                <a:latin typeface="Times New Roman" panose="02020603050405020304" pitchFamily="18" charset="0"/>
                <a:cs typeface="Times New Roman" panose="02020603050405020304" pitchFamily="18" charset="0"/>
              </a:rPr>
              <a:t>Customer Churn Prediction System</a:t>
            </a:r>
          </a:p>
        </p:txBody>
      </p:sp>
      <p:sp>
        <p:nvSpPr>
          <p:cNvPr id="3" name="Subtitle 2">
            <a:extLst>
              <a:ext uri="{FF2B5EF4-FFF2-40B4-BE49-F238E27FC236}">
                <a16:creationId xmlns:a16="http://schemas.microsoft.com/office/drawing/2014/main" id="{7F38B65E-2C62-DD7D-8D82-081C880926A7}"/>
              </a:ext>
            </a:extLst>
          </p:cNvPr>
          <p:cNvSpPr>
            <a:spLocks noGrp="1"/>
          </p:cNvSpPr>
          <p:nvPr>
            <p:ph type="subTitle" idx="1"/>
          </p:nvPr>
        </p:nvSpPr>
        <p:spPr>
          <a:xfrm>
            <a:off x="7079225" y="1785867"/>
            <a:ext cx="4748981" cy="432619"/>
          </a:xfrm>
        </p:spPr>
        <p:txBody>
          <a:bodyPr>
            <a:noAutofit/>
          </a:bodyPr>
          <a:lstStyle/>
          <a:p>
            <a:r>
              <a:rPr lang="en-US" sz="2000" dirty="0"/>
              <a:t>Machine Learning Internship – Task 2 (Future Interns)</a:t>
            </a:r>
            <a:endParaRPr lang="en-IN" sz="2000" dirty="0"/>
          </a:p>
        </p:txBody>
      </p:sp>
      <p:sp>
        <p:nvSpPr>
          <p:cNvPr id="14" name="TextBox 13">
            <a:extLst>
              <a:ext uri="{FF2B5EF4-FFF2-40B4-BE49-F238E27FC236}">
                <a16:creationId xmlns:a16="http://schemas.microsoft.com/office/drawing/2014/main" id="{4AB678BF-D494-913C-5039-F6F50214081E}"/>
              </a:ext>
            </a:extLst>
          </p:cNvPr>
          <p:cNvSpPr txBox="1"/>
          <p:nvPr/>
        </p:nvSpPr>
        <p:spPr>
          <a:xfrm>
            <a:off x="6607277" y="3657602"/>
            <a:ext cx="5584723" cy="1754326"/>
          </a:xfrm>
          <a:prstGeom prst="rect">
            <a:avLst/>
          </a:prstGeom>
          <a:noFill/>
        </p:spPr>
        <p:txBody>
          <a:bodyPr wrap="square" rtlCol="0">
            <a:spAutoFit/>
          </a:bodyPr>
          <a:lstStyle/>
          <a:p>
            <a:r>
              <a:rPr lang="en-IN" dirty="0"/>
              <a:t>NAME: M VADIVAMBAL</a:t>
            </a:r>
            <a:br>
              <a:rPr lang="en-IN" dirty="0"/>
            </a:br>
            <a:r>
              <a:rPr lang="en-IN" dirty="0"/>
              <a:t>ROLE: MACHINE LEARNING INTERN</a:t>
            </a:r>
            <a:br>
              <a:rPr lang="en-IN" dirty="0"/>
            </a:br>
            <a:r>
              <a:rPr lang="en-IN" dirty="0"/>
              <a:t>ORGANIZATION: FUTURE INTERNS</a:t>
            </a:r>
            <a:br>
              <a:rPr lang="en-IN" dirty="0"/>
            </a:br>
            <a:r>
              <a:rPr lang="en-IN" dirty="0"/>
              <a:t>TOOLS USED: PYTHON| PANDAS|NUMPY|MATPLOTLIB</a:t>
            </a:r>
          </a:p>
          <a:p>
            <a:r>
              <a:rPr lang="en-IN" dirty="0"/>
              <a:t>|GOOGLE COLAB</a:t>
            </a:r>
          </a:p>
          <a:p>
            <a:endParaRPr lang="en-IN" dirty="0"/>
          </a:p>
        </p:txBody>
      </p:sp>
      <p:pic>
        <p:nvPicPr>
          <p:cNvPr id="15" name="Picture 14">
            <a:extLst>
              <a:ext uri="{FF2B5EF4-FFF2-40B4-BE49-F238E27FC236}">
                <a16:creationId xmlns:a16="http://schemas.microsoft.com/office/drawing/2014/main" id="{84389D44-29F1-C569-5599-EAE013C1A5D8}"/>
              </a:ext>
            </a:extLst>
          </p:cNvPr>
          <p:cNvPicPr>
            <a:picLocks noChangeAspect="1"/>
          </p:cNvPicPr>
          <p:nvPr/>
        </p:nvPicPr>
        <p:blipFill>
          <a:blip r:embed="rId2"/>
          <a:stretch>
            <a:fillRect/>
          </a:stretch>
        </p:blipFill>
        <p:spPr>
          <a:xfrm>
            <a:off x="0" y="0"/>
            <a:ext cx="6537222" cy="6858000"/>
          </a:xfrm>
          <a:prstGeom prst="rect">
            <a:avLst/>
          </a:prstGeom>
        </p:spPr>
      </p:pic>
    </p:spTree>
    <p:extLst>
      <p:ext uri="{BB962C8B-B14F-4D97-AF65-F5344CB8AC3E}">
        <p14:creationId xmlns:p14="http://schemas.microsoft.com/office/powerpoint/2010/main" val="1957595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187C-9E1D-5664-190D-23B012A5F351}"/>
              </a:ext>
            </a:extLst>
          </p:cNvPr>
          <p:cNvSpPr>
            <a:spLocks noGrp="1"/>
          </p:cNvSpPr>
          <p:nvPr>
            <p:ph type="title"/>
          </p:nvPr>
        </p:nvSpPr>
        <p:spPr/>
        <p:txBody>
          <a:bodyPr/>
          <a:lstStyle/>
          <a:p>
            <a:r>
              <a:rPr lang="en-IN" dirty="0"/>
              <a:t>                      </a:t>
            </a:r>
            <a:r>
              <a:rPr lang="en-IN" b="1" dirty="0">
                <a:latin typeface="Times New Roman" panose="02020603050405020304" pitchFamily="18" charset="0"/>
                <a:cs typeface="Times New Roman" panose="02020603050405020304" pitchFamily="18" charset="0"/>
              </a:rPr>
              <a:t>Problem Statement</a:t>
            </a:r>
          </a:p>
        </p:txBody>
      </p:sp>
      <p:sp>
        <p:nvSpPr>
          <p:cNvPr id="5" name="Content Placeholder 4">
            <a:extLst>
              <a:ext uri="{FF2B5EF4-FFF2-40B4-BE49-F238E27FC236}">
                <a16:creationId xmlns:a16="http://schemas.microsoft.com/office/drawing/2014/main" id="{2065BBA8-67F7-8DA4-DBB2-CEBF78612738}"/>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One of the main issues that telecommunication, banking, internet services, and OTT platforms companies face is customer churn, as they all relied on subscription-based business models. The cost of retaining a customer is less than the cost of gaining a new one. The use of Machine Learning for customer churn prediction in this project will enable the company to perform aimed customer analysis and to know who is considering leaving service. This analysis can give birth to marketing strategies like lowering prices, increasing service quality, and improving customer satisfaction.</a:t>
            </a:r>
          </a:p>
          <a:p>
            <a:pPr marL="0" indent="0">
              <a:buNone/>
            </a:pPr>
            <a:r>
              <a:rPr lang="en-US" sz="2000" dirty="0">
                <a:latin typeface="Times New Roman" panose="02020603050405020304" pitchFamily="18" charset="0"/>
                <a:cs typeface="Times New Roman" panose="02020603050405020304" pitchFamily="18" charset="0"/>
              </a:rPr>
              <a:t>Key Purpose:</a:t>
            </a:r>
          </a:p>
          <a:p>
            <a:pPr>
              <a:lnSpc>
                <a:spcPct val="100000"/>
              </a:lnSpc>
            </a:pPr>
            <a:r>
              <a:rPr lang="en-US" sz="2000" dirty="0">
                <a:latin typeface="Times New Roman" panose="02020603050405020304" pitchFamily="18" charset="0"/>
                <a:cs typeface="Times New Roman" panose="02020603050405020304" pitchFamily="18" charset="0"/>
              </a:rPr>
              <a:t>To detect customers who are likely to stop using the service</a:t>
            </a:r>
          </a:p>
          <a:p>
            <a:pPr>
              <a:lnSpc>
                <a:spcPct val="100000"/>
              </a:lnSpc>
            </a:pPr>
            <a:r>
              <a:rPr lang="en-US" sz="2000" dirty="0">
                <a:latin typeface="Times New Roman" panose="02020603050405020304" pitchFamily="18" charset="0"/>
                <a:cs typeface="Times New Roman" panose="02020603050405020304" pitchFamily="18" charset="0"/>
              </a:rPr>
              <a:t>To help businesses reduce revenue loss by retaining customers</a:t>
            </a:r>
          </a:p>
          <a:p>
            <a:pPr>
              <a:lnSpc>
                <a:spcPct val="100000"/>
              </a:lnSpc>
            </a:pPr>
            <a:r>
              <a:rPr lang="en-US" sz="2000" dirty="0">
                <a:latin typeface="Times New Roman" panose="02020603050405020304" pitchFamily="18" charset="0"/>
                <a:cs typeface="Times New Roman" panose="02020603050405020304" pitchFamily="18" charset="0"/>
              </a:rPr>
              <a:t>To support data-driven decision-making using machine learning</a:t>
            </a:r>
          </a:p>
          <a:p>
            <a:endParaRPr lang="en-IN" sz="2000" dirty="0"/>
          </a:p>
        </p:txBody>
      </p:sp>
    </p:spTree>
    <p:extLst>
      <p:ext uri="{BB962C8B-B14F-4D97-AF65-F5344CB8AC3E}">
        <p14:creationId xmlns:p14="http://schemas.microsoft.com/office/powerpoint/2010/main" val="2607067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F76E4-FD2E-F8E4-D867-4E97C1A37F5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Dataset Description</a:t>
            </a:r>
          </a:p>
        </p:txBody>
      </p:sp>
      <p:sp>
        <p:nvSpPr>
          <p:cNvPr id="3" name="Content Placeholder 2">
            <a:extLst>
              <a:ext uri="{FF2B5EF4-FFF2-40B4-BE49-F238E27FC236}">
                <a16:creationId xmlns:a16="http://schemas.microsoft.com/office/drawing/2014/main" id="{2C1F2CB3-0407-0A3D-A32C-35F905537A49}"/>
              </a:ext>
            </a:extLst>
          </p:cNvPr>
          <p:cNvSpPr>
            <a:spLocks noGrp="1"/>
          </p:cNvSpPr>
          <p:nvPr>
            <p:ph idx="1"/>
          </p:nvPr>
        </p:nvSpPr>
        <p:spPr>
          <a:xfrm>
            <a:off x="838200" y="1825625"/>
            <a:ext cx="10515600" cy="4860310"/>
          </a:xfrm>
        </p:spPr>
        <p:txBody>
          <a:bodyPr>
            <a:norm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This dataset contains customer details, service usage patterns, and billing information, which helps in predicting whether a customer will churn or remain with the company.</a:t>
            </a:r>
          </a:p>
          <a:p>
            <a:pPr>
              <a:lnSpc>
                <a:spcPct val="100000"/>
              </a:lnSpc>
            </a:pPr>
            <a:r>
              <a:rPr lang="en-US" sz="2000" b="1" dirty="0">
                <a:latin typeface="Times New Roman" panose="02020603050405020304" pitchFamily="18" charset="0"/>
                <a:cs typeface="Times New Roman" panose="02020603050405020304" pitchFamily="18" charset="0"/>
              </a:rPr>
              <a:t>Dataset Used:</a:t>
            </a:r>
            <a:r>
              <a:rPr lang="en-US" sz="2000" dirty="0">
                <a:latin typeface="Times New Roman" panose="02020603050405020304" pitchFamily="18" charset="0"/>
                <a:cs typeface="Times New Roman" panose="02020603050405020304" pitchFamily="18" charset="0"/>
              </a:rPr>
              <a:t> Telco Customer Churn Dataset</a:t>
            </a:r>
          </a:p>
          <a:p>
            <a:pPr>
              <a:lnSpc>
                <a:spcPct val="100000"/>
              </a:lnSpc>
            </a:pPr>
            <a:r>
              <a:rPr lang="en-US" sz="2000" b="1" dirty="0">
                <a:latin typeface="Times New Roman" panose="02020603050405020304" pitchFamily="18" charset="0"/>
                <a:cs typeface="Times New Roman" panose="02020603050405020304" pitchFamily="18" charset="0"/>
              </a:rPr>
              <a:t>Total Records:</a:t>
            </a:r>
            <a:r>
              <a:rPr lang="en-US" sz="2000" dirty="0">
                <a:latin typeface="Times New Roman" panose="02020603050405020304" pitchFamily="18" charset="0"/>
                <a:cs typeface="Times New Roman" panose="02020603050405020304" pitchFamily="18" charset="0"/>
              </a:rPr>
              <a:t> 7043 customers</a:t>
            </a:r>
          </a:p>
          <a:p>
            <a:pPr>
              <a:lnSpc>
                <a:spcPct val="100000"/>
              </a:lnSpc>
            </a:pPr>
            <a:r>
              <a:rPr lang="en-US" sz="2000" b="1" dirty="0">
                <a:latin typeface="Times New Roman" panose="02020603050405020304" pitchFamily="18" charset="0"/>
                <a:cs typeface="Times New Roman" panose="02020603050405020304" pitchFamily="18" charset="0"/>
              </a:rPr>
              <a:t>Type:</a:t>
            </a:r>
            <a:r>
              <a:rPr lang="en-US" sz="2000" dirty="0">
                <a:latin typeface="Times New Roman" panose="02020603050405020304" pitchFamily="18" charset="0"/>
                <a:cs typeface="Times New Roman" panose="02020603050405020304" pitchFamily="18" charset="0"/>
              </a:rPr>
              <a:t> Real-world telecom customer data</a:t>
            </a:r>
          </a:p>
          <a:p>
            <a:r>
              <a:rPr lang="en-IN" sz="2000" b="1" dirty="0">
                <a:latin typeface="Times New Roman" panose="02020603050405020304" pitchFamily="18" charset="0"/>
                <a:cs typeface="Times New Roman" panose="02020603050405020304" pitchFamily="18" charset="0"/>
              </a:rPr>
              <a:t>Customer Information:</a:t>
            </a:r>
            <a:r>
              <a:rPr lang="en-IN" sz="2000" dirty="0">
                <a:latin typeface="Times New Roman" panose="02020603050405020304" pitchFamily="18" charset="0"/>
                <a:cs typeface="Times New Roman" panose="02020603050405020304" pitchFamily="18" charset="0"/>
              </a:rPr>
              <a:t> gender, </a:t>
            </a:r>
            <a:r>
              <a:rPr lang="en-IN" sz="2000" dirty="0" err="1">
                <a:latin typeface="Times New Roman" panose="02020603050405020304" pitchFamily="18" charset="0"/>
                <a:cs typeface="Times New Roman" panose="02020603050405020304" pitchFamily="18" charset="0"/>
              </a:rPr>
              <a:t>SeniorCitizen</a:t>
            </a:r>
            <a:r>
              <a:rPr lang="en-IN" sz="2000" dirty="0">
                <a:latin typeface="Times New Roman" panose="02020603050405020304" pitchFamily="18" charset="0"/>
                <a:cs typeface="Times New Roman" panose="02020603050405020304" pitchFamily="18" charset="0"/>
              </a:rPr>
              <a:t>, Partner, Dependents</a:t>
            </a:r>
          </a:p>
          <a:p>
            <a:r>
              <a:rPr lang="en-IN" sz="2000" b="1" dirty="0">
                <a:latin typeface="Times New Roman" panose="02020603050405020304" pitchFamily="18" charset="0"/>
                <a:cs typeface="Times New Roman" panose="02020603050405020304" pitchFamily="18" charset="0"/>
              </a:rPr>
              <a:t>Account Details:</a:t>
            </a:r>
            <a:r>
              <a:rPr lang="en-IN" sz="2000" dirty="0">
                <a:latin typeface="Times New Roman" panose="02020603050405020304" pitchFamily="18" charset="0"/>
                <a:cs typeface="Times New Roman" panose="02020603050405020304" pitchFamily="18" charset="0"/>
              </a:rPr>
              <a:t> tenure, Contract type, Payment method</a:t>
            </a:r>
          </a:p>
          <a:p>
            <a:r>
              <a:rPr lang="en-IN" sz="2000" b="1" dirty="0">
                <a:latin typeface="Times New Roman" panose="02020603050405020304" pitchFamily="18" charset="0"/>
                <a:cs typeface="Times New Roman" panose="02020603050405020304" pitchFamily="18" charset="0"/>
              </a:rPr>
              <a:t>Service Details:</a:t>
            </a:r>
            <a:r>
              <a:rPr lang="en-IN" sz="2000" dirty="0">
                <a:latin typeface="Times New Roman" panose="02020603050405020304" pitchFamily="18" charset="0"/>
                <a:cs typeface="Times New Roman" panose="02020603050405020304" pitchFamily="18" charset="0"/>
              </a:rPr>
              <a:t> Internet service, Online security, Streaming services</a:t>
            </a:r>
          </a:p>
          <a:p>
            <a:r>
              <a:rPr lang="en-IN" sz="2000" b="1" dirty="0">
                <a:latin typeface="Times New Roman" panose="02020603050405020304" pitchFamily="18" charset="0"/>
                <a:cs typeface="Times New Roman" panose="02020603050405020304" pitchFamily="18" charset="0"/>
              </a:rPr>
              <a:t>Charges:</a:t>
            </a:r>
            <a:r>
              <a:rPr lang="en-IN" sz="2000" dirty="0">
                <a:latin typeface="Times New Roman" panose="02020603050405020304" pitchFamily="18" charset="0"/>
                <a:cs typeface="Times New Roman" panose="02020603050405020304" pitchFamily="18" charset="0"/>
              </a:rPr>
              <a:t> Monthly Charges, Total Charges</a:t>
            </a:r>
          </a:p>
          <a:p>
            <a:r>
              <a:rPr lang="en-IN" sz="2000" b="1" dirty="0">
                <a:latin typeface="Times New Roman" panose="02020603050405020304" pitchFamily="18" charset="0"/>
                <a:cs typeface="Times New Roman" panose="02020603050405020304" pitchFamily="18" charset="0"/>
              </a:rPr>
              <a:t>Target Column:</a:t>
            </a:r>
            <a:r>
              <a:rPr lang="en-IN" sz="2000" dirty="0">
                <a:latin typeface="Times New Roman" panose="02020603050405020304" pitchFamily="18" charset="0"/>
                <a:cs typeface="Times New Roman" panose="02020603050405020304" pitchFamily="18" charset="0"/>
              </a:rPr>
              <a:t> Churn (Yes / No)</a:t>
            </a:r>
          </a:p>
          <a:p>
            <a:pPr marL="0" indent="0">
              <a:buNone/>
            </a:pPr>
            <a:br>
              <a:rPr lang="en-IN" sz="2000" dirty="0"/>
            </a:br>
            <a:endParaRPr lang="en-IN" sz="2000" dirty="0"/>
          </a:p>
          <a:p>
            <a:pPr marL="0" indent="0">
              <a:lnSpc>
                <a:spcPct val="100000"/>
              </a:lnSpc>
              <a:buNone/>
            </a:pPr>
            <a:endParaRPr lang="en-IN" sz="2000" dirty="0"/>
          </a:p>
          <a:p>
            <a:pPr marL="0" indent="0">
              <a:lnSpc>
                <a:spcPct val="100000"/>
              </a:lnSpc>
              <a:buNone/>
            </a:pPr>
            <a:endParaRPr lang="en-US" sz="2000" b="1" dirty="0"/>
          </a:p>
          <a:p>
            <a:pPr>
              <a:lnSpc>
                <a:spcPct val="100000"/>
              </a:lnSpc>
            </a:pPr>
            <a:endParaRPr lang="en-US" sz="2000" b="1" dirty="0"/>
          </a:p>
          <a:p>
            <a:pPr>
              <a:lnSpc>
                <a:spcPct val="100000"/>
              </a:lnSpc>
            </a:pPr>
            <a:endParaRPr lang="en-US" sz="2000" b="1" dirty="0"/>
          </a:p>
        </p:txBody>
      </p:sp>
    </p:spTree>
    <p:extLst>
      <p:ext uri="{BB962C8B-B14F-4D97-AF65-F5344CB8AC3E}">
        <p14:creationId xmlns:p14="http://schemas.microsoft.com/office/powerpoint/2010/main" val="117565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B200E-4204-68AD-80BF-7793578FCCC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Data Preprocessing &amp; Cleaning</a:t>
            </a:r>
          </a:p>
        </p:txBody>
      </p:sp>
      <p:sp>
        <p:nvSpPr>
          <p:cNvPr id="3" name="Content Placeholder 2">
            <a:extLst>
              <a:ext uri="{FF2B5EF4-FFF2-40B4-BE49-F238E27FC236}">
                <a16:creationId xmlns:a16="http://schemas.microsoft.com/office/drawing/2014/main" id="{26AEBCD6-8B8D-A42C-1263-E48B4576AD36}"/>
              </a:ext>
            </a:extLst>
          </p:cNvPr>
          <p:cNvSpPr>
            <a:spLocks noGrp="1"/>
          </p:cNvSpPr>
          <p:nvPr>
            <p:ph idx="1"/>
          </p:nvPr>
        </p:nvSpPr>
        <p:spPr>
          <a:xfrm>
            <a:off x="838200" y="1848465"/>
            <a:ext cx="10515600" cy="4454012"/>
          </a:xfrm>
        </p:spPr>
        <p:txBody>
          <a:bodyPr/>
          <a:lstStyle/>
          <a:p>
            <a:pPr marL="0" indent="0">
              <a:buNone/>
            </a:pPr>
            <a:r>
              <a:rPr lang="en-US" sz="2000" dirty="0">
                <a:latin typeface="Times New Roman" panose="02020603050405020304" pitchFamily="18" charset="0"/>
                <a:cs typeface="Times New Roman" panose="02020603050405020304" pitchFamily="18" charset="0"/>
              </a:rPr>
              <a:t>To prepare data for modeling, the following pre-processing steps/measures were applied:</a:t>
            </a:r>
          </a:p>
          <a:p>
            <a:r>
              <a:rPr lang="en-US" sz="2000" b="1" dirty="0">
                <a:latin typeface="Times New Roman" panose="02020603050405020304" pitchFamily="18" charset="0"/>
                <a:cs typeface="Times New Roman" panose="02020603050405020304" pitchFamily="18" charset="0"/>
              </a:rPr>
              <a:t>Handled Missing Values   </a:t>
            </a:r>
            <a:r>
              <a:rPr lang="en-US" sz="2000" dirty="0">
                <a:latin typeface="Times New Roman" panose="02020603050405020304" pitchFamily="18" charset="0"/>
                <a:cs typeface="Times New Roman" panose="02020603050405020304" pitchFamily="18" charset="0"/>
              </a:rPr>
              <a:t>                                                                                                                                               Checked dataset for null / blank values                                                                                                               Cleaned invalid or empty </a:t>
            </a:r>
            <a:r>
              <a:rPr lang="en-US" sz="2000" dirty="0" err="1">
                <a:latin typeface="Times New Roman" panose="02020603050405020304" pitchFamily="18" charset="0"/>
                <a:cs typeface="Times New Roman" panose="02020603050405020304" pitchFamily="18" charset="0"/>
              </a:rPr>
              <a:t>TotalCharges</a:t>
            </a:r>
            <a:r>
              <a:rPr lang="en-US" sz="2000" dirty="0">
                <a:latin typeface="Times New Roman" panose="02020603050405020304" pitchFamily="18" charset="0"/>
                <a:cs typeface="Times New Roman" panose="02020603050405020304" pitchFamily="18" charset="0"/>
              </a:rPr>
              <a:t> values</a:t>
            </a:r>
          </a:p>
          <a:p>
            <a:r>
              <a:rPr lang="en-US" sz="2000" b="1" dirty="0">
                <a:latin typeface="Times New Roman" panose="02020603050405020304" pitchFamily="18" charset="0"/>
                <a:cs typeface="Times New Roman" panose="02020603050405020304" pitchFamily="18" charset="0"/>
              </a:rPr>
              <a:t>Converted Categorical Data to Numerical                                                                                                            </a:t>
            </a:r>
            <a:r>
              <a:rPr lang="en-US" sz="2000" dirty="0">
                <a:latin typeface="Times New Roman" panose="02020603050405020304" pitchFamily="18" charset="0"/>
                <a:cs typeface="Times New Roman" panose="02020603050405020304" pitchFamily="18" charset="0"/>
              </a:rPr>
              <a:t>Used encoding to convert Yes/No and category columns into numeric format                                                                Prepared data for machine learning algorithms</a:t>
            </a:r>
          </a:p>
          <a:p>
            <a:r>
              <a:rPr lang="en-US" sz="2000" b="1" dirty="0">
                <a:latin typeface="Times New Roman" panose="02020603050405020304" pitchFamily="18" charset="0"/>
                <a:cs typeface="Times New Roman" panose="02020603050405020304" pitchFamily="18" charset="0"/>
              </a:rPr>
              <a:t>Removed Unnecessary Columns                                                                                                                        </a:t>
            </a:r>
            <a:r>
              <a:rPr lang="en-US" sz="2000" dirty="0">
                <a:latin typeface="Times New Roman" panose="02020603050405020304" pitchFamily="18" charset="0"/>
                <a:cs typeface="Times New Roman" panose="02020603050405020304" pitchFamily="18" charset="0"/>
              </a:rPr>
              <a:t>Dropped Customer IDs and irrelevant columns that don’t affect prediction</a:t>
            </a:r>
          </a:p>
          <a:p>
            <a:r>
              <a:rPr lang="en-US" sz="2000" b="1" dirty="0">
                <a:latin typeface="Times New Roman" panose="02020603050405020304" pitchFamily="18" charset="0"/>
                <a:cs typeface="Times New Roman" panose="02020603050405020304" pitchFamily="18" charset="0"/>
              </a:rPr>
              <a:t>Feature Scaling                                                                                                                                                        </a:t>
            </a:r>
            <a:r>
              <a:rPr lang="en-US" sz="2000" dirty="0">
                <a:latin typeface="Times New Roman" panose="02020603050405020304" pitchFamily="18" charset="0"/>
                <a:cs typeface="Times New Roman" panose="02020603050405020304" pitchFamily="18" charset="0"/>
              </a:rPr>
              <a:t>Scaled numerical values like tenure, </a:t>
            </a:r>
            <a:r>
              <a:rPr lang="en-US" sz="2000" dirty="0" err="1">
                <a:latin typeface="Times New Roman" panose="02020603050405020304" pitchFamily="18" charset="0"/>
                <a:cs typeface="Times New Roman" panose="02020603050405020304" pitchFamily="18" charset="0"/>
              </a:rPr>
              <a:t>MonthlyCharges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TotalCharges</a:t>
            </a:r>
            <a:r>
              <a:rPr lang="en-US" sz="2000" dirty="0">
                <a:latin typeface="Times New Roman" panose="02020603050405020304" pitchFamily="18" charset="0"/>
                <a:cs typeface="Times New Roman" panose="02020603050405020304" pitchFamily="18" charset="0"/>
              </a:rPr>
              <a:t> for better model performance</a:t>
            </a:r>
          </a:p>
          <a:p>
            <a:pPr marL="0" indent="0">
              <a:buNone/>
            </a:pPr>
            <a:r>
              <a:rPr lang="en-US" sz="2000" dirty="0">
                <a:latin typeface="Times New Roman" panose="02020603050405020304" pitchFamily="18" charset="0"/>
                <a:cs typeface="Times New Roman" panose="02020603050405020304" pitchFamily="18" charset="0"/>
              </a:rPr>
              <a:t>Data preprocessing sought to increase data accuracy by creating clean, clear, and machine-readable data which would thereby enhance the capacity of the churn predictive model.</a:t>
            </a: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p>
          <a:p>
            <a:pPr marL="0" indent="0">
              <a:buNone/>
            </a:pPr>
            <a:endParaRPr lang="en-IN" sz="2000" dirty="0"/>
          </a:p>
        </p:txBody>
      </p:sp>
    </p:spTree>
    <p:extLst>
      <p:ext uri="{BB962C8B-B14F-4D97-AF65-F5344CB8AC3E}">
        <p14:creationId xmlns:p14="http://schemas.microsoft.com/office/powerpoint/2010/main" val="1943620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63EC-C545-0D0D-6A82-1E73A95398F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Model Building</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CAE71D-92AA-C1B2-DA4B-7A84673C8284}"/>
              </a:ext>
            </a:extLst>
          </p:cNvPr>
          <p:cNvSpPr>
            <a:spLocks noGrp="1"/>
          </p:cNvSpPr>
          <p:nvPr>
            <p:ph idx="1"/>
          </p:nvPr>
        </p:nvSpPr>
        <p:spPr>
          <a:xfrm>
            <a:off x="838200" y="1825625"/>
            <a:ext cx="10515600" cy="3749265"/>
          </a:xfrm>
        </p:spPr>
        <p:txBody>
          <a:bodyPr>
            <a:normAutofit/>
          </a:bodyPr>
          <a:lstStyle/>
          <a:p>
            <a:r>
              <a:rPr lang="en-US" sz="2000" dirty="0">
                <a:latin typeface="Times New Roman" panose="02020603050405020304" pitchFamily="18" charset="0"/>
                <a:cs typeface="Times New Roman" panose="02020603050405020304" pitchFamily="18" charset="0"/>
              </a:rPr>
              <a:t>To predict customer churn, multiple machine learning models were trained and tested:                    </a:t>
            </a:r>
            <a:r>
              <a:rPr lang="en-US" sz="2000" b="1" dirty="0">
                <a:latin typeface="Times New Roman" panose="02020603050405020304" pitchFamily="18" charset="0"/>
                <a:cs typeface="Times New Roman" panose="02020603050405020304" pitchFamily="18" charset="0"/>
              </a:rPr>
              <a:t>Train–Test Split                                                                                                                                                             </a:t>
            </a:r>
            <a:r>
              <a:rPr lang="en-US" sz="2000" dirty="0">
                <a:latin typeface="Times New Roman" panose="02020603050405020304" pitchFamily="18" charset="0"/>
                <a:cs typeface="Times New Roman" panose="02020603050405020304" pitchFamily="18" charset="0"/>
              </a:rPr>
              <a:t>Dataset was divided into training data (80%) and testing data (20%).</a:t>
            </a:r>
          </a:p>
          <a:p>
            <a:r>
              <a:rPr lang="en-US" sz="2000" b="1" dirty="0">
                <a:latin typeface="Times New Roman" panose="02020603050405020304" pitchFamily="18" charset="0"/>
                <a:cs typeface="Times New Roman" panose="02020603050405020304" pitchFamily="18" charset="0"/>
              </a:rPr>
              <a:t>Models Used</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Logistic Regression </a:t>
            </a:r>
            <a:r>
              <a:rPr lang="en-US" sz="2000" dirty="0">
                <a:latin typeface="Times New Roman" panose="02020603050405020304" pitchFamily="18" charset="0"/>
                <a:cs typeface="Times New Roman" panose="02020603050405020304" pitchFamily="18" charset="0"/>
              </a:rPr>
              <a:t>– baseline classification model                                                                                           </a:t>
            </a:r>
            <a:r>
              <a:rPr lang="en-US" sz="2000" b="1" dirty="0">
                <a:latin typeface="Times New Roman" panose="02020603050405020304" pitchFamily="18" charset="0"/>
                <a:cs typeface="Times New Roman" panose="02020603050405020304" pitchFamily="18" charset="0"/>
              </a:rPr>
              <a:t>Random Forest Classifier </a:t>
            </a:r>
            <a:r>
              <a:rPr lang="en-US" sz="2000" dirty="0">
                <a:latin typeface="Times New Roman" panose="02020603050405020304" pitchFamily="18" charset="0"/>
                <a:cs typeface="Times New Roman" panose="02020603050405020304" pitchFamily="18" charset="0"/>
              </a:rPr>
              <a:t>– ensemble model for better accuracy</a:t>
            </a:r>
          </a:p>
          <a:p>
            <a:r>
              <a:rPr lang="en-US" sz="2000" b="1" dirty="0">
                <a:latin typeface="Times New Roman" panose="02020603050405020304" pitchFamily="18" charset="0"/>
                <a:cs typeface="Times New Roman" panose="02020603050405020304" pitchFamily="18" charset="0"/>
              </a:rPr>
              <a:t>Training                                                                                                                                                                     </a:t>
            </a:r>
            <a:r>
              <a:rPr lang="en-US" sz="2000" dirty="0">
                <a:latin typeface="Times New Roman" panose="02020603050405020304" pitchFamily="18" charset="0"/>
                <a:cs typeface="Times New Roman" panose="02020603050405020304" pitchFamily="18" charset="0"/>
              </a:rPr>
              <a:t>Models were trained using customer features                                                                                                    Target variable: Churn (Yes / No)</a:t>
            </a:r>
          </a:p>
          <a:p>
            <a:r>
              <a:rPr lang="en-US" sz="2000" b="1" dirty="0">
                <a:latin typeface="Times New Roman" panose="02020603050405020304" pitchFamily="18" charset="0"/>
                <a:cs typeface="Times New Roman" panose="02020603050405020304" pitchFamily="18" charset="0"/>
              </a:rPr>
              <a:t>Prediction                                                                                                                                                               </a:t>
            </a:r>
            <a:r>
              <a:rPr lang="en-US" sz="2000" dirty="0">
                <a:latin typeface="Times New Roman" panose="02020603050405020304" pitchFamily="18" charset="0"/>
                <a:cs typeface="Times New Roman" panose="02020603050405020304" pitchFamily="18" charset="0"/>
              </a:rPr>
              <a:t>Models predicted whether a customer will churn and provided churn probability</a:t>
            </a:r>
          </a:p>
          <a:p>
            <a:endParaRPr lang="en-US" sz="2000" dirty="0"/>
          </a:p>
          <a:p>
            <a:endParaRPr lang="en-US" sz="2000" dirty="0"/>
          </a:p>
          <a:p>
            <a:endParaRPr lang="en-US" sz="2000" dirty="0"/>
          </a:p>
          <a:p>
            <a:endParaRPr lang="en-US" sz="2000" dirty="0"/>
          </a:p>
          <a:p>
            <a:pPr marL="0" indent="0">
              <a:buNone/>
            </a:pPr>
            <a:endParaRPr lang="en-IN" sz="2000" dirty="0"/>
          </a:p>
        </p:txBody>
      </p:sp>
    </p:spTree>
    <p:extLst>
      <p:ext uri="{BB962C8B-B14F-4D97-AF65-F5344CB8AC3E}">
        <p14:creationId xmlns:p14="http://schemas.microsoft.com/office/powerpoint/2010/main" val="60664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2DB92-AE27-5369-04A9-E5E9068A44AE}"/>
              </a:ext>
            </a:extLst>
          </p:cNvPr>
          <p:cNvSpPr>
            <a:spLocks noGrp="1"/>
          </p:cNvSpPr>
          <p:nvPr>
            <p:ph type="title"/>
          </p:nvPr>
        </p:nvSpPr>
        <p:spPr>
          <a:xfrm>
            <a:off x="838200" y="334297"/>
            <a:ext cx="10515600" cy="1356851"/>
          </a:xfrm>
        </p:spPr>
        <p:txBody>
          <a:bodyPr/>
          <a:lstStyle/>
          <a:p>
            <a:r>
              <a:rPr lang="en-IN" b="1" dirty="0">
                <a:latin typeface="Times New Roman" panose="02020603050405020304" pitchFamily="18" charset="0"/>
                <a:cs typeface="Times New Roman" panose="02020603050405020304" pitchFamily="18" charset="0"/>
              </a:rPr>
              <a:t>       Model Evaluation &amp; Performance</a:t>
            </a:r>
          </a:p>
        </p:txBody>
      </p:sp>
      <p:sp>
        <p:nvSpPr>
          <p:cNvPr id="3" name="Content Placeholder 2">
            <a:extLst>
              <a:ext uri="{FF2B5EF4-FFF2-40B4-BE49-F238E27FC236}">
                <a16:creationId xmlns:a16="http://schemas.microsoft.com/office/drawing/2014/main" id="{FC178CC2-5D91-F04B-6BDE-B3AA3B898AAF}"/>
              </a:ext>
            </a:extLst>
          </p:cNvPr>
          <p:cNvSpPr>
            <a:spLocks noGrp="1"/>
          </p:cNvSpPr>
          <p:nvPr>
            <p:ph idx="1"/>
          </p:nvPr>
        </p:nvSpPr>
        <p:spPr>
          <a:xfrm>
            <a:off x="838200" y="1573161"/>
            <a:ext cx="10515600" cy="4768645"/>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To measure how well the churn prediction model performed, different evaluation metrics were used:</a:t>
            </a:r>
          </a:p>
          <a:p>
            <a:r>
              <a:rPr lang="en-US" sz="2000" b="1" dirty="0">
                <a:latin typeface="Times New Roman" panose="02020603050405020304" pitchFamily="18" charset="0"/>
                <a:cs typeface="Times New Roman" panose="02020603050405020304" pitchFamily="18" charset="0"/>
              </a:rPr>
              <a:t>Accuracy                                                                                                                                                                           </a:t>
            </a:r>
            <a:r>
              <a:rPr lang="en-US" sz="2000" dirty="0">
                <a:latin typeface="Times New Roman" panose="02020603050405020304" pitchFamily="18" charset="0"/>
                <a:cs typeface="Times New Roman" panose="02020603050405020304" pitchFamily="18" charset="0"/>
              </a:rPr>
              <a:t>Measures how many overall predictions were correct</a:t>
            </a:r>
          </a:p>
          <a:p>
            <a:r>
              <a:rPr lang="en-US" sz="2000" b="1" dirty="0">
                <a:latin typeface="Times New Roman" panose="02020603050405020304" pitchFamily="18" charset="0"/>
                <a:cs typeface="Times New Roman" panose="02020603050405020304" pitchFamily="18" charset="0"/>
              </a:rPr>
              <a:t>Precision                                                                                                                                                                                              </a:t>
            </a:r>
            <a:r>
              <a:rPr lang="en-US" sz="2000" dirty="0">
                <a:latin typeface="Times New Roman" panose="02020603050405020304" pitchFamily="18" charset="0"/>
                <a:cs typeface="Times New Roman" panose="02020603050405020304" pitchFamily="18" charset="0"/>
              </a:rPr>
              <a:t>Measures how correctly the model identified real churn customers</a:t>
            </a:r>
          </a:p>
          <a:p>
            <a:r>
              <a:rPr lang="en-US" sz="2000" b="1" dirty="0">
                <a:latin typeface="Times New Roman" panose="02020603050405020304" pitchFamily="18" charset="0"/>
                <a:cs typeface="Times New Roman" panose="02020603050405020304" pitchFamily="18" charset="0"/>
              </a:rPr>
              <a:t>Recall                                                                                                                                                                         </a:t>
            </a:r>
            <a:r>
              <a:rPr lang="en-US" sz="2000" dirty="0">
                <a:latin typeface="Times New Roman" panose="02020603050405020304" pitchFamily="18" charset="0"/>
                <a:cs typeface="Times New Roman" panose="02020603050405020304" pitchFamily="18" charset="0"/>
              </a:rPr>
              <a:t>Measures how many actual churn customers were successfully detected                                                              Very important in churn prediction because missing a churn customer is costly</a:t>
            </a:r>
          </a:p>
          <a:p>
            <a:r>
              <a:rPr lang="en-US" sz="2000" b="1" dirty="0">
                <a:latin typeface="Times New Roman" panose="02020603050405020304" pitchFamily="18" charset="0"/>
                <a:cs typeface="Times New Roman" panose="02020603050405020304" pitchFamily="18" charset="0"/>
              </a:rPr>
              <a:t>Confusion Matrix                                                                                                                                                       </a:t>
            </a:r>
            <a:r>
              <a:rPr lang="en-US" sz="2000" dirty="0">
                <a:latin typeface="Times New Roman" panose="02020603050405020304" pitchFamily="18" charset="0"/>
                <a:cs typeface="Times New Roman" panose="02020603050405020304" pitchFamily="18" charset="0"/>
              </a:rPr>
              <a:t>Shows correct vs incorrect predictions                                                                                                                                 Helps understand True Positives, False Positives, True Negatives, False Negatives</a:t>
            </a:r>
          </a:p>
          <a:p>
            <a:r>
              <a:rPr lang="en-US" sz="2000" b="1" dirty="0">
                <a:latin typeface="Times New Roman" panose="02020603050405020304" pitchFamily="18" charset="0"/>
                <a:cs typeface="Times New Roman" panose="02020603050405020304" pitchFamily="18" charset="0"/>
              </a:rPr>
              <a:t>ROC – AUC Score                                                                                                                                                                               </a:t>
            </a:r>
            <a:r>
              <a:rPr lang="en-US" sz="2000" dirty="0">
                <a:latin typeface="Times New Roman" panose="02020603050405020304" pitchFamily="18" charset="0"/>
                <a:cs typeface="Times New Roman" panose="02020603050405020304" pitchFamily="18" charset="0"/>
              </a:rPr>
              <a:t>Evaluates how well the model distinguishes churn vs non-churn customers</a:t>
            </a:r>
          </a:p>
          <a:p>
            <a:endParaRPr lang="en-US" sz="2000" dirty="0">
              <a:latin typeface="Times New Roman" panose="02020603050405020304" pitchFamily="18"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2507349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9E7DCB7-DF7B-71F5-DD93-BC85B948D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35" y="781511"/>
            <a:ext cx="4962525" cy="44100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DD41F72-1A74-9191-02A3-5BDDBBC5C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781511"/>
            <a:ext cx="520065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08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E4A6-652C-7E7C-54BF-8E12D15B0D3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Key Insights &amp; Observations</a:t>
            </a:r>
          </a:p>
        </p:txBody>
      </p:sp>
      <p:sp>
        <p:nvSpPr>
          <p:cNvPr id="3" name="Content Placeholder 2">
            <a:extLst>
              <a:ext uri="{FF2B5EF4-FFF2-40B4-BE49-F238E27FC236}">
                <a16:creationId xmlns:a16="http://schemas.microsoft.com/office/drawing/2014/main" id="{C480E6B4-42F9-B434-8153-0942707E745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Based on data analysis, visualizations, and model results, the following churn insights were identified:</a:t>
            </a:r>
          </a:p>
          <a:p>
            <a:r>
              <a:rPr lang="en-US" sz="2000" b="1" dirty="0">
                <a:latin typeface="Times New Roman" panose="02020603050405020304" pitchFamily="18" charset="0"/>
                <a:cs typeface="Times New Roman" panose="02020603050405020304" pitchFamily="18" charset="0"/>
              </a:rPr>
              <a:t>Customers with Short Tenure churn more                                                                                                             </a:t>
            </a:r>
            <a:r>
              <a:rPr lang="en-US" sz="2000" dirty="0">
                <a:latin typeface="Times New Roman" panose="02020603050405020304" pitchFamily="18" charset="0"/>
                <a:cs typeface="Times New Roman" panose="02020603050405020304" pitchFamily="18" charset="0"/>
              </a:rPr>
              <a:t>New customers (less than few months) are more likely to leave</a:t>
            </a:r>
          </a:p>
          <a:p>
            <a:r>
              <a:rPr lang="en-US" sz="2000" b="1" dirty="0">
                <a:latin typeface="Times New Roman" panose="02020603050405020304" pitchFamily="18" charset="0"/>
                <a:cs typeface="Times New Roman" panose="02020603050405020304" pitchFamily="18" charset="0"/>
              </a:rPr>
              <a:t>Higher Monthly Charges increase churn                                                                                                                                    </a:t>
            </a:r>
            <a:r>
              <a:rPr lang="en-US" sz="2000" dirty="0">
                <a:latin typeface="Times New Roman" panose="02020603050405020304" pitchFamily="18" charset="0"/>
                <a:cs typeface="Times New Roman" panose="02020603050405020304" pitchFamily="18" charset="0"/>
              </a:rPr>
              <a:t>Customers paying high bills tend to discontinue services</a:t>
            </a:r>
          </a:p>
          <a:p>
            <a:r>
              <a:rPr lang="en-US" sz="2000" b="1" dirty="0">
                <a:latin typeface="Times New Roman" panose="02020603050405020304" pitchFamily="18" charset="0"/>
                <a:cs typeface="Times New Roman" panose="02020603050405020304" pitchFamily="18" charset="0"/>
              </a:rPr>
              <a:t>Contract Type has a strong impact                                                                                                                 Month-to-month</a:t>
            </a:r>
            <a:r>
              <a:rPr lang="en-US" sz="2000" dirty="0">
                <a:latin typeface="Times New Roman" panose="02020603050405020304" pitchFamily="18" charset="0"/>
                <a:cs typeface="Times New Roman" panose="02020603050405020304" pitchFamily="18" charset="0"/>
              </a:rPr>
              <a:t> contract users churn more</a:t>
            </a:r>
            <a:r>
              <a:rPr lang="en-US" sz="2000" b="1" dirty="0">
                <a:latin typeface="Times New Roman" panose="02020603050405020304" pitchFamily="18" charset="0"/>
                <a:cs typeface="Times New Roman" panose="02020603050405020304" pitchFamily="18" charset="0"/>
              </a:rPr>
              <a:t>1-Year / 2-Year</a:t>
            </a:r>
            <a:r>
              <a:rPr lang="en-US" sz="2000" dirty="0">
                <a:latin typeface="Times New Roman" panose="02020603050405020304" pitchFamily="18" charset="0"/>
                <a:cs typeface="Times New Roman" panose="02020603050405020304" pitchFamily="18" charset="0"/>
              </a:rPr>
              <a:t> contract users are more stable</a:t>
            </a:r>
          </a:p>
          <a:p>
            <a:r>
              <a:rPr lang="en-US" sz="2000" b="1" dirty="0">
                <a:latin typeface="Times New Roman" panose="02020603050405020304" pitchFamily="18" charset="0"/>
                <a:cs typeface="Times New Roman" panose="02020603050405020304" pitchFamily="18" charset="0"/>
              </a:rPr>
              <a:t>Lack of Additional Services leads to churn                                                                                            </a:t>
            </a:r>
            <a:r>
              <a:rPr lang="en-US" sz="2000" dirty="0">
                <a:latin typeface="Times New Roman" panose="02020603050405020304" pitchFamily="18" charset="0"/>
                <a:cs typeface="Times New Roman" panose="02020603050405020304" pitchFamily="18" charset="0"/>
              </a:rPr>
              <a:t>Customers without security/backup/extra services tend to leave</a:t>
            </a:r>
          </a:p>
          <a:p>
            <a:r>
              <a:rPr lang="en-US" sz="2000" b="1" dirty="0">
                <a:latin typeface="Times New Roman" panose="02020603050405020304" pitchFamily="18" charset="0"/>
                <a:cs typeface="Times New Roman" panose="02020603050405020304" pitchFamily="18" charset="0"/>
              </a:rPr>
              <a:t>Senior Citizens show slightly higher churn rate                                                                                                              </a:t>
            </a:r>
            <a:r>
              <a:rPr lang="en-US" sz="2000" dirty="0">
                <a:latin typeface="Times New Roman" panose="02020603050405020304" pitchFamily="18" charset="0"/>
                <a:cs typeface="Times New Roman" panose="02020603050405020304" pitchFamily="18" charset="0"/>
              </a:rPr>
              <a:t>Need better support / value plans</a:t>
            </a:r>
          </a:p>
          <a:p>
            <a:pPr marL="0" indent="0">
              <a:buNone/>
            </a:pPr>
            <a:endParaRPr lang="en-IN" dirty="0"/>
          </a:p>
        </p:txBody>
      </p:sp>
    </p:spTree>
    <p:extLst>
      <p:ext uri="{BB962C8B-B14F-4D97-AF65-F5344CB8AC3E}">
        <p14:creationId xmlns:p14="http://schemas.microsoft.com/office/powerpoint/2010/main" val="38455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8812-0CE2-9A8B-3591-8EF7C87B7A00}"/>
              </a:ext>
            </a:extLst>
          </p:cNvPr>
          <p:cNvSpPr>
            <a:spLocks noGrp="1"/>
          </p:cNvSpPr>
          <p:nvPr>
            <p:ph type="title"/>
          </p:nvPr>
        </p:nvSpPr>
        <p:spPr>
          <a:xfrm>
            <a:off x="838200" y="365126"/>
            <a:ext cx="10515600" cy="958514"/>
          </a:xfrm>
        </p:spPr>
        <p:txBody>
          <a:bodyPr/>
          <a:lstStyle/>
          <a:p>
            <a:r>
              <a:rPr lang="en-IN" b="1" dirty="0">
                <a:latin typeface="Times New Roman" panose="02020603050405020304" pitchFamily="18" charset="0"/>
                <a:cs typeface="Times New Roman" panose="02020603050405020304" pitchFamily="18" charset="0"/>
              </a:rPr>
              <a:t>  Business Impact &amp; Recommendations</a:t>
            </a:r>
          </a:p>
        </p:txBody>
      </p:sp>
      <p:sp>
        <p:nvSpPr>
          <p:cNvPr id="4" name="Rectangle 1">
            <a:extLst>
              <a:ext uri="{FF2B5EF4-FFF2-40B4-BE49-F238E27FC236}">
                <a16:creationId xmlns:a16="http://schemas.microsoft.com/office/drawing/2014/main" id="{64E3A43C-3FCA-06D6-7B71-A82E74336BF0}"/>
              </a:ext>
            </a:extLst>
          </p:cNvPr>
          <p:cNvSpPr>
            <a:spLocks noGrp="1" noChangeArrowheads="1"/>
          </p:cNvSpPr>
          <p:nvPr>
            <p:ph idx="1"/>
          </p:nvPr>
        </p:nvSpPr>
        <p:spPr bwMode="auto">
          <a:xfrm>
            <a:off x="838200" y="1502688"/>
            <a:ext cx="105156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High-Risk Customers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churn probability scores to identify customers likely to leave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 personalized offers, discounts, or loyalty rewards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Retention for Month-to-Month Users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 customers to switch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1-year or 2-year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contracts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incentives for long-term plans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High Monthly Charges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flexible pricing plans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 bundled packages to reduce bill pressure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Customer Support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senior citizens and new customers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Proactively resolve complaints to prevent churn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Improvement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 additional services like security, backup, and support plans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9873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C32FB-BEB7-6DD9-6887-A1DD4732B7F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Churn Prediction System – Final Output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DD166E-0F3D-6516-238F-0C83EE19A6CC}"/>
              </a:ext>
            </a:extLst>
          </p:cNvPr>
          <p:cNvSpPr>
            <a:spLocks noGrp="1"/>
          </p:cNvSpPr>
          <p:nvPr>
            <p:ph idx="1"/>
          </p:nvPr>
        </p:nvSpPr>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This project successfully developed a Machine Learning–based Customer Churn Prediction System capable of:</a:t>
            </a:r>
          </a:p>
          <a:p>
            <a:r>
              <a:rPr lang="en-US" sz="2000" dirty="0">
                <a:latin typeface="Times New Roman" panose="02020603050405020304" pitchFamily="18" charset="0"/>
                <a:cs typeface="Times New Roman" panose="02020603050405020304" pitchFamily="18" charset="0"/>
              </a:rPr>
              <a:t>Predicting whether a customer will churn or stay</a:t>
            </a:r>
          </a:p>
          <a:p>
            <a:r>
              <a:rPr lang="en-US" sz="2000" dirty="0">
                <a:latin typeface="Times New Roman" panose="02020603050405020304" pitchFamily="18" charset="0"/>
                <a:cs typeface="Times New Roman" panose="02020603050405020304" pitchFamily="18" charset="0"/>
              </a:rPr>
              <a:t>Providing churn probability score</a:t>
            </a:r>
          </a:p>
          <a:p>
            <a:r>
              <a:rPr lang="en-US" sz="2000" dirty="0">
                <a:latin typeface="Times New Roman" panose="02020603050405020304" pitchFamily="18" charset="0"/>
                <a:cs typeface="Times New Roman" panose="02020603050405020304" pitchFamily="18" charset="0"/>
              </a:rPr>
              <a:t>Identifying key factors influencing churn</a:t>
            </a:r>
          </a:p>
          <a:p>
            <a:r>
              <a:rPr lang="en-US" sz="2000" dirty="0">
                <a:latin typeface="Times New Roman" panose="02020603050405020304" pitchFamily="18" charset="0"/>
                <a:cs typeface="Times New Roman" panose="02020603050405020304" pitchFamily="18" charset="0"/>
              </a:rPr>
              <a:t>Supporting business teams with data-driven decisions</a:t>
            </a:r>
          </a:p>
          <a:p>
            <a:pPr marL="0" indent="0">
              <a:buNone/>
            </a:pPr>
            <a:r>
              <a:rPr lang="en-IN" sz="2000" dirty="0">
                <a:latin typeface="Times New Roman" panose="02020603050405020304" pitchFamily="18" charset="0"/>
                <a:cs typeface="Times New Roman" panose="02020603050405020304" pitchFamily="18" charset="0"/>
              </a:rPr>
              <a:t>Outputs Generated:</a:t>
            </a:r>
          </a:p>
          <a:p>
            <a:r>
              <a:rPr lang="en-IN" sz="2000" dirty="0">
                <a:latin typeface="Times New Roman" panose="02020603050405020304" pitchFamily="18" charset="0"/>
                <a:cs typeface="Times New Roman" panose="02020603050405020304" pitchFamily="18" charset="0"/>
              </a:rPr>
              <a:t>Confusion Matrix</a:t>
            </a:r>
          </a:p>
          <a:p>
            <a:r>
              <a:rPr lang="en-IN" sz="2000" dirty="0">
                <a:latin typeface="Times New Roman" panose="02020603050405020304" pitchFamily="18" charset="0"/>
                <a:cs typeface="Times New Roman" panose="02020603050405020304" pitchFamily="18" charset="0"/>
              </a:rPr>
              <a:t>Accuracy, Precision, Recall</a:t>
            </a:r>
          </a:p>
          <a:p>
            <a:r>
              <a:rPr lang="en-IN" sz="2000" dirty="0">
                <a:latin typeface="Times New Roman" panose="02020603050405020304" pitchFamily="18" charset="0"/>
                <a:cs typeface="Times New Roman" panose="02020603050405020304" pitchFamily="18" charset="0"/>
              </a:rPr>
              <a:t>ROC-AUC Curve</a:t>
            </a:r>
          </a:p>
          <a:p>
            <a:r>
              <a:rPr lang="en-IN" sz="2000" dirty="0">
                <a:latin typeface="Times New Roman" panose="02020603050405020304" pitchFamily="18" charset="0"/>
                <a:cs typeface="Times New Roman" panose="02020603050405020304" pitchFamily="18" charset="0"/>
              </a:rPr>
              <a:t>Feature Importance / Key Drivers</a:t>
            </a:r>
          </a:p>
          <a:p>
            <a:r>
              <a:rPr lang="en-IN" sz="2000" dirty="0">
                <a:latin typeface="Times New Roman" panose="02020603050405020304" pitchFamily="18" charset="0"/>
                <a:cs typeface="Times New Roman" panose="02020603050405020304" pitchFamily="18" charset="0"/>
              </a:rPr>
              <a:t>Visual Insights (Tenure vs Churn, Contract vs Churn, Charges vs Churn)</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3009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33DBB82-AC90-6316-722F-D4701F3EC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844" y="226448"/>
            <a:ext cx="5203723" cy="358846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A0CABD2-F545-C94F-F741-1E4BA36D0A5A}"/>
              </a:ext>
            </a:extLst>
          </p:cNvPr>
          <p:cNvPicPr>
            <a:picLocks noChangeAspect="1"/>
          </p:cNvPicPr>
          <p:nvPr/>
        </p:nvPicPr>
        <p:blipFill>
          <a:blip r:embed="rId4"/>
          <a:stretch>
            <a:fillRect/>
          </a:stretch>
        </p:blipFill>
        <p:spPr>
          <a:xfrm>
            <a:off x="5669832" y="2330244"/>
            <a:ext cx="5886450" cy="3942737"/>
          </a:xfrm>
          <a:prstGeom prst="rect">
            <a:avLst/>
          </a:prstGeom>
        </p:spPr>
      </p:pic>
    </p:spTree>
    <p:extLst>
      <p:ext uri="{BB962C8B-B14F-4D97-AF65-F5344CB8AC3E}">
        <p14:creationId xmlns:p14="http://schemas.microsoft.com/office/powerpoint/2010/main" val="277293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E47E-F895-9BD5-04BE-EB761AE5325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Conclusion</a:t>
            </a:r>
          </a:p>
        </p:txBody>
      </p:sp>
      <p:sp>
        <p:nvSpPr>
          <p:cNvPr id="3" name="Content Placeholder 2">
            <a:extLst>
              <a:ext uri="{FF2B5EF4-FFF2-40B4-BE49-F238E27FC236}">
                <a16:creationId xmlns:a16="http://schemas.microsoft.com/office/drawing/2014/main" id="{A14FB79F-CD60-67A8-DC80-5C0E8B12C5A9}"/>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AI implementation shows that Churn can be predicted through Machine Learning with good accuracy which translates into the customers' lives through retention, revenue saving, and service quality enhancement.</a:t>
            </a:r>
          </a:p>
          <a:p>
            <a:r>
              <a:rPr lang="en-US" sz="2000" dirty="0">
                <a:latin typeface="Times New Roman" panose="02020603050405020304" pitchFamily="18" charset="0"/>
                <a:cs typeface="Times New Roman" panose="02020603050405020304" pitchFamily="18" charset="0"/>
              </a:rPr>
              <a:t>Successfully built a Customer Churn Prediction System using Machine Learning</a:t>
            </a:r>
          </a:p>
          <a:p>
            <a:r>
              <a:rPr lang="en-US" sz="2000" dirty="0">
                <a:latin typeface="Times New Roman" panose="02020603050405020304" pitchFamily="18" charset="0"/>
                <a:cs typeface="Times New Roman" panose="02020603050405020304" pitchFamily="18" charset="0"/>
              </a:rPr>
              <a:t>Applied data preprocessing, feature engineering, and model training on Telco Churn dataset</a:t>
            </a:r>
          </a:p>
          <a:p>
            <a:r>
              <a:rPr lang="en-US" sz="2000" dirty="0">
                <a:latin typeface="Times New Roman" panose="02020603050405020304" pitchFamily="18" charset="0"/>
                <a:cs typeface="Times New Roman" panose="02020603050405020304" pitchFamily="18" charset="0"/>
              </a:rPr>
              <a:t>Evaluated model performance using Accuracy, Precision, Recall, Confusion Matrix &amp; ROC-AUC</a:t>
            </a:r>
          </a:p>
          <a:p>
            <a:r>
              <a:rPr lang="en-US" sz="2000" dirty="0">
                <a:latin typeface="Times New Roman" panose="02020603050405020304" pitchFamily="18" charset="0"/>
                <a:cs typeface="Times New Roman" panose="02020603050405020304" pitchFamily="18" charset="0"/>
              </a:rPr>
              <a:t>Identified key churn factors such as tenure, contract type, and monthly charges</a:t>
            </a:r>
          </a:p>
          <a:p>
            <a:r>
              <a:rPr lang="en-US" sz="2000" dirty="0">
                <a:latin typeface="Times New Roman" panose="02020603050405020304" pitchFamily="18" charset="0"/>
                <a:cs typeface="Times New Roman" panose="02020603050405020304" pitchFamily="18" charset="0"/>
              </a:rPr>
              <a:t>System helps businesses predict at-risk customers early and reduce churn</a:t>
            </a:r>
          </a:p>
          <a:p>
            <a:r>
              <a:rPr lang="en-US" sz="2000" dirty="0">
                <a:latin typeface="Times New Roman" panose="02020603050405020304" pitchFamily="18" charset="0"/>
                <a:cs typeface="Times New Roman" panose="02020603050405020304" pitchFamily="18" charset="0"/>
              </a:rPr>
              <a:t>Supports data-driven decision-making for improving customer retention strategies</a:t>
            </a:r>
          </a:p>
          <a:p>
            <a:endParaRPr lang="en-IN" sz="2000" dirty="0"/>
          </a:p>
        </p:txBody>
      </p:sp>
    </p:spTree>
    <p:extLst>
      <p:ext uri="{BB962C8B-B14F-4D97-AF65-F5344CB8AC3E}">
        <p14:creationId xmlns:p14="http://schemas.microsoft.com/office/powerpoint/2010/main" val="127097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948</Words>
  <Application>Microsoft Office PowerPoint</Application>
  <PresentationFormat>Widescreen</PresentationFormat>
  <Paragraphs>93</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Customer Churn Prediction System</vt:lpstr>
      <vt:lpstr>                      Problem Statement</vt:lpstr>
      <vt:lpstr>                     Dataset Description</vt:lpstr>
      <vt:lpstr>        Data Preprocessing &amp; Cleaning</vt:lpstr>
      <vt:lpstr>                      Model Building </vt:lpstr>
      <vt:lpstr>       Model Evaluation &amp; Performance</vt:lpstr>
      <vt:lpstr>PowerPoint Presentation</vt:lpstr>
      <vt:lpstr>          Key Insights &amp; Observations</vt:lpstr>
      <vt:lpstr>  Business Impact &amp; Recommendations</vt:lpstr>
      <vt:lpstr>Churn Prediction System – Final Output </vt:lpstr>
      <vt:lpstr>PowerPoint Presentation</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Vadivambal M</dc:creator>
  <cp:lastModifiedBy>Vadivambal M</cp:lastModifiedBy>
  <cp:revision>1</cp:revision>
  <dcterms:created xsi:type="dcterms:W3CDTF">2026-01-01T12:22:05Z</dcterms:created>
  <dcterms:modified xsi:type="dcterms:W3CDTF">2026-01-05T19:03:05Z</dcterms:modified>
</cp:coreProperties>
</file>